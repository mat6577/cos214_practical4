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6635" autoAdjust="0"/>
    <p:restoredTop sz="94610"/>
  </p:normalViewPr>
  <p:slideViewPr>
    <p:cSldViewPr snapToGrid="0" snapToObjects="1">
      <p:cViewPr>
        <p:scale>
          <a:sx n="64" d="100"/>
          <a:sy n="64" d="100"/>
        </p:scale>
        <p:origin x="669" y="-1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0051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B0B0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11880799" y="0"/>
            <a:ext cx="310896" cy="6858000"/>
          </a:xfrm>
          <a:prstGeom prst="rect">
            <a:avLst/>
          </a:prstGeom>
          <a:solidFill>
            <a:srgbClr val="0B0B0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82296" y="1645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11963095" y="1645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82296" y="6217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11963095" y="6217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Shape 6"/>
          <p:cNvSpPr/>
          <p:nvPr/>
        </p:nvSpPr>
        <p:spPr>
          <a:xfrm>
            <a:off x="82296" y="10789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Shape 7"/>
          <p:cNvSpPr/>
          <p:nvPr/>
        </p:nvSpPr>
        <p:spPr>
          <a:xfrm>
            <a:off x="11963095" y="10789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82296" y="15361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Shape 9"/>
          <p:cNvSpPr/>
          <p:nvPr/>
        </p:nvSpPr>
        <p:spPr>
          <a:xfrm>
            <a:off x="11963095" y="15361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" name="Shape 10"/>
          <p:cNvSpPr/>
          <p:nvPr/>
        </p:nvSpPr>
        <p:spPr>
          <a:xfrm>
            <a:off x="82296" y="19933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Shape 11"/>
          <p:cNvSpPr/>
          <p:nvPr/>
        </p:nvSpPr>
        <p:spPr>
          <a:xfrm>
            <a:off x="11963095" y="19933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" name="Shape 12"/>
          <p:cNvSpPr/>
          <p:nvPr/>
        </p:nvSpPr>
        <p:spPr>
          <a:xfrm>
            <a:off x="82296" y="24505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5" name="Shape 13"/>
          <p:cNvSpPr/>
          <p:nvPr/>
        </p:nvSpPr>
        <p:spPr>
          <a:xfrm>
            <a:off x="11963095" y="24505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6" name="Shape 14"/>
          <p:cNvSpPr/>
          <p:nvPr/>
        </p:nvSpPr>
        <p:spPr>
          <a:xfrm>
            <a:off x="82296" y="29077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" name="Shape 15"/>
          <p:cNvSpPr/>
          <p:nvPr/>
        </p:nvSpPr>
        <p:spPr>
          <a:xfrm>
            <a:off x="11963095" y="29077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8" name="Shape 16"/>
          <p:cNvSpPr/>
          <p:nvPr/>
        </p:nvSpPr>
        <p:spPr>
          <a:xfrm>
            <a:off x="82296" y="33649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9" name="Shape 17"/>
          <p:cNvSpPr/>
          <p:nvPr/>
        </p:nvSpPr>
        <p:spPr>
          <a:xfrm>
            <a:off x="11963095" y="33649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0" name="Shape 18"/>
          <p:cNvSpPr/>
          <p:nvPr/>
        </p:nvSpPr>
        <p:spPr>
          <a:xfrm>
            <a:off x="82296" y="38221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" name="Shape 19"/>
          <p:cNvSpPr/>
          <p:nvPr/>
        </p:nvSpPr>
        <p:spPr>
          <a:xfrm>
            <a:off x="11963095" y="38221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2" name="Shape 20"/>
          <p:cNvSpPr/>
          <p:nvPr/>
        </p:nvSpPr>
        <p:spPr>
          <a:xfrm>
            <a:off x="82296" y="42793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3" name="Shape 21"/>
          <p:cNvSpPr/>
          <p:nvPr/>
        </p:nvSpPr>
        <p:spPr>
          <a:xfrm>
            <a:off x="11963095" y="42793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4" name="Shape 22"/>
          <p:cNvSpPr/>
          <p:nvPr/>
        </p:nvSpPr>
        <p:spPr>
          <a:xfrm>
            <a:off x="82296" y="47365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5" name="Shape 23"/>
          <p:cNvSpPr/>
          <p:nvPr/>
        </p:nvSpPr>
        <p:spPr>
          <a:xfrm>
            <a:off x="11963095" y="47365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6" name="Shape 24"/>
          <p:cNvSpPr/>
          <p:nvPr/>
        </p:nvSpPr>
        <p:spPr>
          <a:xfrm>
            <a:off x="82296" y="51937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7" name="Shape 25"/>
          <p:cNvSpPr/>
          <p:nvPr/>
        </p:nvSpPr>
        <p:spPr>
          <a:xfrm>
            <a:off x="11963095" y="51937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8" name="Shape 26"/>
          <p:cNvSpPr/>
          <p:nvPr/>
        </p:nvSpPr>
        <p:spPr>
          <a:xfrm>
            <a:off x="82296" y="56509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9" name="Shape 27"/>
          <p:cNvSpPr/>
          <p:nvPr/>
        </p:nvSpPr>
        <p:spPr>
          <a:xfrm>
            <a:off x="11963095" y="56509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0" name="Shape 28"/>
          <p:cNvSpPr/>
          <p:nvPr/>
        </p:nvSpPr>
        <p:spPr>
          <a:xfrm>
            <a:off x="82296" y="61081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1" name="Shape 29"/>
          <p:cNvSpPr/>
          <p:nvPr/>
        </p:nvSpPr>
        <p:spPr>
          <a:xfrm>
            <a:off x="11963095" y="61081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2" name="Shape 30"/>
          <p:cNvSpPr/>
          <p:nvPr/>
        </p:nvSpPr>
        <p:spPr>
          <a:xfrm>
            <a:off x="82296" y="65653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3" name="Shape 31"/>
          <p:cNvSpPr/>
          <p:nvPr/>
        </p:nvSpPr>
        <p:spPr>
          <a:xfrm>
            <a:off x="11963095" y="65653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4" name="Text 32"/>
          <p:cNvSpPr txBox="1"/>
          <p:nvPr/>
        </p:nvSpPr>
        <p:spPr>
          <a:xfrm>
            <a:off x="694944" y="1417320"/>
            <a:ext cx="1080180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TASKFORGE STUDIOS PRODUCTION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694944" y="1836235"/>
            <a:ext cx="1080180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2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STUDIO SLATE CRISIS</a:t>
            </a:r>
            <a:endParaRPr lang="en-US" sz="4600" dirty="0"/>
          </a:p>
        </p:txBody>
      </p:sp>
      <p:sp>
        <p:nvSpPr>
          <p:cNvPr id="37" name="Shape 35"/>
          <p:cNvSpPr/>
          <p:nvPr/>
        </p:nvSpPr>
        <p:spPr>
          <a:xfrm>
            <a:off x="5272888" y="3520440"/>
            <a:ext cx="1645920" cy="0"/>
          </a:xfrm>
          <a:prstGeom prst="line">
            <a:avLst/>
          </a:prstGeom>
          <a:noFill/>
          <a:ln w="15875">
            <a:solidFill>
              <a:srgbClr val="8A722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8" name="Shape 36"/>
          <p:cNvSpPr/>
          <p:nvPr/>
        </p:nvSpPr>
        <p:spPr>
          <a:xfrm>
            <a:off x="694944" y="3886200"/>
            <a:ext cx="3417722" cy="2331720"/>
          </a:xfrm>
          <a:prstGeom prst="roundRect">
            <a:avLst>
              <a:gd name="adj" fmla="val 3137"/>
            </a:avLst>
          </a:prstGeom>
          <a:solidFill>
            <a:srgbClr val="1F1F1F"/>
          </a:solidFill>
          <a:ln w="9525">
            <a:solidFill>
              <a:srgbClr val="3A3A3A"/>
            </a:solidFill>
            <a:prstDash val="solid"/>
          </a:ln>
          <a:effectLst>
            <a:outerShdw blurRad="762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ZA" dirty="0"/>
          </a:p>
        </p:txBody>
      </p:sp>
      <p:sp>
        <p:nvSpPr>
          <p:cNvPr id="41" name="Text 39"/>
          <p:cNvSpPr txBox="1"/>
          <p:nvPr/>
        </p:nvSpPr>
        <p:spPr>
          <a:xfrm>
            <a:off x="1591056" y="4059936"/>
            <a:ext cx="29056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SETUP</a:t>
            </a:r>
            <a:endParaRPr lang="en-US" sz="2000" dirty="0"/>
          </a:p>
        </p:txBody>
      </p:sp>
      <p:sp>
        <p:nvSpPr>
          <p:cNvPr id="42" name="Text 40"/>
          <p:cNvSpPr txBox="1"/>
          <p:nvPr/>
        </p:nvSpPr>
        <p:spPr>
          <a:xfrm>
            <a:off x="950976" y="4846320"/>
            <a:ext cx="29056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executive board tracks 40 active cinematic projects, from micro-budget indie films to multi-million-dollar summer releases.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386986" y="3886200"/>
            <a:ext cx="3417722" cy="2331720"/>
          </a:xfrm>
          <a:prstGeom prst="roundRect">
            <a:avLst>
              <a:gd name="adj" fmla="val 3137"/>
            </a:avLst>
          </a:prstGeom>
          <a:solidFill>
            <a:srgbClr val="1F1F1F"/>
          </a:solidFill>
          <a:ln w="9525">
            <a:solidFill>
              <a:srgbClr val="3A3A3A"/>
            </a:solidFill>
            <a:prstDash val="solid"/>
          </a:ln>
          <a:effectLst>
            <a:outerShdw blurRad="762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46" name="Text 44"/>
          <p:cNvSpPr txBox="1"/>
          <p:nvPr/>
        </p:nvSpPr>
        <p:spPr>
          <a:xfrm>
            <a:off x="5173370" y="4027078"/>
            <a:ext cx="29056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47" name="Text 45"/>
          <p:cNvSpPr txBox="1"/>
          <p:nvPr/>
        </p:nvSpPr>
        <p:spPr>
          <a:xfrm>
            <a:off x="4643018" y="4846320"/>
            <a:ext cx="29056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ZA" sz="1400" dirty="0">
                <a:solidFill>
                  <a:schemeClr val="bg1">
                    <a:lumMod val="95000"/>
                  </a:schemeClr>
                </a:solidFill>
              </a:rPr>
              <a:t>Our old system just used simple lists with checked boxes. It couldn't group projects inside folders, mix multiple genres together, or search for movies by their current stage.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8" name="Shape 46"/>
          <p:cNvSpPr/>
          <p:nvPr/>
        </p:nvSpPr>
        <p:spPr>
          <a:xfrm>
            <a:off x="8079029" y="3886200"/>
            <a:ext cx="3417722" cy="2331720"/>
          </a:xfrm>
          <a:prstGeom prst="roundRect">
            <a:avLst>
              <a:gd name="adj" fmla="val 3137"/>
            </a:avLst>
          </a:prstGeom>
          <a:solidFill>
            <a:srgbClr val="1F1F1F"/>
          </a:solidFill>
          <a:ln w="9525">
            <a:solidFill>
              <a:srgbClr val="3A3A3A"/>
            </a:solidFill>
            <a:prstDash val="solid"/>
          </a:ln>
          <a:effectLst>
            <a:outerShdw blurRad="762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1" name="Text 49"/>
          <p:cNvSpPr txBox="1"/>
          <p:nvPr/>
        </p:nvSpPr>
        <p:spPr>
          <a:xfrm>
            <a:off x="8755684" y="4038138"/>
            <a:ext cx="29056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BRIEF</a:t>
            </a:r>
            <a:endParaRPr lang="en-US" sz="2000" dirty="0"/>
          </a:p>
        </p:txBody>
      </p:sp>
      <p:sp>
        <p:nvSpPr>
          <p:cNvPr id="52" name="Text 50"/>
          <p:cNvSpPr txBox="1"/>
          <p:nvPr/>
        </p:nvSpPr>
        <p:spPr>
          <a:xfrm>
            <a:off x="8335061" y="4846320"/>
            <a:ext cx="29056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the studio management engine using four Gang of Four structural and behavioral patterns — walking the slate in real time.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B0B0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11880799" y="0"/>
            <a:ext cx="310896" cy="6858000"/>
          </a:xfrm>
          <a:prstGeom prst="rect">
            <a:avLst/>
          </a:prstGeom>
          <a:solidFill>
            <a:srgbClr val="0B0B0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82296" y="1645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11963095" y="1645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82296" y="6217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11963095" y="6217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Shape 6"/>
          <p:cNvSpPr/>
          <p:nvPr/>
        </p:nvSpPr>
        <p:spPr>
          <a:xfrm>
            <a:off x="82296" y="10789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Shape 7"/>
          <p:cNvSpPr/>
          <p:nvPr/>
        </p:nvSpPr>
        <p:spPr>
          <a:xfrm>
            <a:off x="11963095" y="10789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82296" y="15361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Shape 9"/>
          <p:cNvSpPr/>
          <p:nvPr/>
        </p:nvSpPr>
        <p:spPr>
          <a:xfrm>
            <a:off x="11963095" y="15361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" name="Shape 10"/>
          <p:cNvSpPr/>
          <p:nvPr/>
        </p:nvSpPr>
        <p:spPr>
          <a:xfrm>
            <a:off x="82296" y="19933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Shape 11"/>
          <p:cNvSpPr/>
          <p:nvPr/>
        </p:nvSpPr>
        <p:spPr>
          <a:xfrm>
            <a:off x="11963095" y="19933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" name="Shape 12"/>
          <p:cNvSpPr/>
          <p:nvPr/>
        </p:nvSpPr>
        <p:spPr>
          <a:xfrm>
            <a:off x="82296" y="24505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5" name="Shape 13"/>
          <p:cNvSpPr/>
          <p:nvPr/>
        </p:nvSpPr>
        <p:spPr>
          <a:xfrm>
            <a:off x="11963095" y="24505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6" name="Shape 14"/>
          <p:cNvSpPr/>
          <p:nvPr/>
        </p:nvSpPr>
        <p:spPr>
          <a:xfrm>
            <a:off x="82296" y="29077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" name="Shape 15"/>
          <p:cNvSpPr/>
          <p:nvPr/>
        </p:nvSpPr>
        <p:spPr>
          <a:xfrm>
            <a:off x="11963095" y="29077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8" name="Shape 16"/>
          <p:cNvSpPr/>
          <p:nvPr/>
        </p:nvSpPr>
        <p:spPr>
          <a:xfrm>
            <a:off x="82296" y="33649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9" name="Shape 17"/>
          <p:cNvSpPr/>
          <p:nvPr/>
        </p:nvSpPr>
        <p:spPr>
          <a:xfrm>
            <a:off x="11963095" y="33649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0" name="Shape 18"/>
          <p:cNvSpPr/>
          <p:nvPr/>
        </p:nvSpPr>
        <p:spPr>
          <a:xfrm>
            <a:off x="82296" y="38221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" name="Shape 19"/>
          <p:cNvSpPr/>
          <p:nvPr/>
        </p:nvSpPr>
        <p:spPr>
          <a:xfrm>
            <a:off x="11963095" y="38221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2" name="Shape 20"/>
          <p:cNvSpPr/>
          <p:nvPr/>
        </p:nvSpPr>
        <p:spPr>
          <a:xfrm>
            <a:off x="82296" y="42793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3" name="Shape 21"/>
          <p:cNvSpPr/>
          <p:nvPr/>
        </p:nvSpPr>
        <p:spPr>
          <a:xfrm>
            <a:off x="11963095" y="42793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4" name="Shape 22"/>
          <p:cNvSpPr/>
          <p:nvPr/>
        </p:nvSpPr>
        <p:spPr>
          <a:xfrm>
            <a:off x="82296" y="47365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5" name="Shape 23"/>
          <p:cNvSpPr/>
          <p:nvPr/>
        </p:nvSpPr>
        <p:spPr>
          <a:xfrm>
            <a:off x="11963095" y="47365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6" name="Shape 24"/>
          <p:cNvSpPr/>
          <p:nvPr/>
        </p:nvSpPr>
        <p:spPr>
          <a:xfrm>
            <a:off x="82296" y="51937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7" name="Shape 25"/>
          <p:cNvSpPr/>
          <p:nvPr/>
        </p:nvSpPr>
        <p:spPr>
          <a:xfrm>
            <a:off x="11963095" y="51937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8" name="Shape 26"/>
          <p:cNvSpPr/>
          <p:nvPr/>
        </p:nvSpPr>
        <p:spPr>
          <a:xfrm>
            <a:off x="82296" y="56509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9" name="Shape 27"/>
          <p:cNvSpPr/>
          <p:nvPr/>
        </p:nvSpPr>
        <p:spPr>
          <a:xfrm>
            <a:off x="11963095" y="56509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0" name="Shape 28"/>
          <p:cNvSpPr/>
          <p:nvPr/>
        </p:nvSpPr>
        <p:spPr>
          <a:xfrm>
            <a:off x="82296" y="61081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1" name="Shape 29"/>
          <p:cNvSpPr/>
          <p:nvPr/>
        </p:nvSpPr>
        <p:spPr>
          <a:xfrm>
            <a:off x="11963095" y="61081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2" name="Shape 30"/>
          <p:cNvSpPr/>
          <p:nvPr/>
        </p:nvSpPr>
        <p:spPr>
          <a:xfrm>
            <a:off x="82296" y="65653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3" name="Shape 31"/>
          <p:cNvSpPr/>
          <p:nvPr/>
        </p:nvSpPr>
        <p:spPr>
          <a:xfrm>
            <a:off x="11963095" y="65653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4" name="Text 32"/>
          <p:cNvSpPr txBox="1"/>
          <p:nvPr/>
        </p:nvSpPr>
        <p:spPr>
          <a:xfrm>
            <a:off x="694944" y="292608"/>
            <a:ext cx="108018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1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694944" y="566928"/>
            <a:ext cx="1080180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Structuring the Slate</a:t>
            </a:r>
            <a:endParaRPr lang="en-US" sz="3000" dirty="0"/>
          </a:p>
        </p:txBody>
      </p:sp>
      <p:sp>
        <p:nvSpPr>
          <p:cNvPr id="36" name="Text 34"/>
          <p:cNvSpPr txBox="1"/>
          <p:nvPr/>
        </p:nvSpPr>
        <p:spPr>
          <a:xfrm>
            <a:off x="694944" y="1115568"/>
            <a:ext cx="108018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9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Composite Pattern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717804" y="1691640"/>
            <a:ext cx="5120640" cy="3246120"/>
          </a:xfrm>
          <a:prstGeom prst="roundRect">
            <a:avLst>
              <a:gd name="adj" fmla="val 2254"/>
            </a:avLst>
          </a:prstGeom>
          <a:solidFill>
            <a:srgbClr val="262626"/>
          </a:solidFill>
          <a:ln w="9525">
            <a:solidFill>
              <a:srgbClr val="3A3A3A"/>
            </a:solidFill>
            <a:prstDash val="solid"/>
          </a:ln>
          <a:effectLst>
            <a:outerShdw blurRad="762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38" name="Shape 36"/>
          <p:cNvSpPr/>
          <p:nvPr/>
        </p:nvSpPr>
        <p:spPr>
          <a:xfrm>
            <a:off x="1837944" y="1965960"/>
            <a:ext cx="2834640" cy="502920"/>
          </a:xfrm>
          <a:prstGeom prst="roundRect">
            <a:avLst>
              <a:gd name="adj" fmla="val 10909"/>
            </a:avLst>
          </a:prstGeom>
          <a:solidFill>
            <a:srgbClr val="D4AF3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9" name="Text 37"/>
          <p:cNvSpPr txBox="1"/>
          <p:nvPr/>
        </p:nvSpPr>
        <p:spPr>
          <a:xfrm>
            <a:off x="1837944" y="19659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TaskForge 2026 Catalog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3255264" y="2468880"/>
            <a:ext cx="0" cy="274320"/>
          </a:xfrm>
          <a:prstGeom prst="line">
            <a:avLst/>
          </a:prstGeom>
          <a:noFill/>
          <a:ln w="19050">
            <a:solidFill>
              <a:srgbClr val="8A722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1" name="Shape 39"/>
          <p:cNvSpPr/>
          <p:nvPr/>
        </p:nvSpPr>
        <p:spPr>
          <a:xfrm>
            <a:off x="1700784" y="2743200"/>
            <a:ext cx="3108960" cy="0"/>
          </a:xfrm>
          <a:prstGeom prst="line">
            <a:avLst/>
          </a:prstGeom>
          <a:noFill/>
          <a:ln w="19050">
            <a:solidFill>
              <a:srgbClr val="8A722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2" name="Shape 40"/>
          <p:cNvSpPr/>
          <p:nvPr/>
        </p:nvSpPr>
        <p:spPr>
          <a:xfrm>
            <a:off x="1700784" y="2743200"/>
            <a:ext cx="0" cy="228600"/>
          </a:xfrm>
          <a:prstGeom prst="line">
            <a:avLst/>
          </a:prstGeom>
          <a:noFill/>
          <a:ln w="19050">
            <a:solidFill>
              <a:srgbClr val="8A722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3" name="Shape 41"/>
          <p:cNvSpPr/>
          <p:nvPr/>
        </p:nvSpPr>
        <p:spPr>
          <a:xfrm>
            <a:off x="4809744" y="2743200"/>
            <a:ext cx="0" cy="228600"/>
          </a:xfrm>
          <a:prstGeom prst="line">
            <a:avLst/>
          </a:prstGeom>
          <a:noFill/>
          <a:ln w="19050">
            <a:solidFill>
              <a:srgbClr val="8A722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4" name="Shape 42"/>
          <p:cNvSpPr/>
          <p:nvPr/>
        </p:nvSpPr>
        <p:spPr>
          <a:xfrm>
            <a:off x="717804" y="2971800"/>
            <a:ext cx="1965960" cy="502920"/>
          </a:xfrm>
          <a:prstGeom prst="roundRect">
            <a:avLst>
              <a:gd name="adj" fmla="val 10909"/>
            </a:avLst>
          </a:prstGeom>
          <a:solidFill>
            <a:srgbClr val="1F1F1F"/>
          </a:solidFill>
          <a:ln w="12700">
            <a:solidFill>
              <a:srgbClr val="8A722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5" name="Text 43"/>
          <p:cNvSpPr txBox="1"/>
          <p:nvPr/>
        </p:nvSpPr>
        <p:spPr>
          <a:xfrm>
            <a:off x="717804" y="29718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Releases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3826764" y="2971800"/>
            <a:ext cx="1965960" cy="502920"/>
          </a:xfrm>
          <a:prstGeom prst="roundRect">
            <a:avLst>
              <a:gd name="adj" fmla="val 10909"/>
            </a:avLst>
          </a:prstGeom>
          <a:solidFill>
            <a:srgbClr val="1F1F1F"/>
          </a:solidFill>
          <a:ln w="12700">
            <a:solidFill>
              <a:srgbClr val="8A722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7" name="Text 45"/>
          <p:cNvSpPr txBox="1"/>
          <p:nvPr/>
        </p:nvSpPr>
        <p:spPr>
          <a:xfrm>
            <a:off x="3826764" y="29718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Indie Vault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1700784" y="3474720"/>
            <a:ext cx="0" cy="201168"/>
          </a:xfrm>
          <a:prstGeom prst="line">
            <a:avLst/>
          </a:prstGeom>
          <a:noFill/>
          <a:ln w="12700">
            <a:solidFill>
              <a:srgbClr val="555555"/>
            </a:solidFill>
            <a:prstDash val="dash"/>
          </a:ln>
        </p:spPr>
        <p:txBody>
          <a:bodyPr/>
          <a:lstStyle/>
          <a:p>
            <a:endParaRPr lang="en-ZA"/>
          </a:p>
        </p:txBody>
      </p:sp>
      <p:sp>
        <p:nvSpPr>
          <p:cNvPr id="49" name="Shape 47"/>
          <p:cNvSpPr/>
          <p:nvPr/>
        </p:nvSpPr>
        <p:spPr>
          <a:xfrm>
            <a:off x="4809744" y="3474720"/>
            <a:ext cx="0" cy="201168"/>
          </a:xfrm>
          <a:prstGeom prst="line">
            <a:avLst/>
          </a:prstGeom>
          <a:noFill/>
          <a:ln w="12700">
            <a:solidFill>
              <a:srgbClr val="555555"/>
            </a:solidFill>
            <a:prstDash val="dash"/>
          </a:ln>
        </p:spPr>
        <p:txBody>
          <a:bodyPr/>
          <a:lstStyle/>
          <a:p>
            <a:endParaRPr lang="en-ZA"/>
          </a:p>
        </p:txBody>
      </p:sp>
      <p:sp>
        <p:nvSpPr>
          <p:cNvPr id="51" name="Shape 49"/>
          <p:cNvSpPr/>
          <p:nvPr/>
        </p:nvSpPr>
        <p:spPr>
          <a:xfrm>
            <a:off x="6181344" y="17373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D4AF3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2" name="Text 50"/>
          <p:cNvSpPr txBox="1"/>
          <p:nvPr/>
        </p:nvSpPr>
        <p:spPr>
          <a:xfrm>
            <a:off x="6501384" y="1691640"/>
            <a:ext cx="49953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interface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6501384" y="1965960"/>
            <a:ext cx="49953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declares getMetaData() and printMetaData(); every node in the tree answers to the same calls.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181344" y="251460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D4AF3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5" name="Text 53"/>
          <p:cNvSpPr txBox="1"/>
          <p:nvPr/>
        </p:nvSpPr>
        <p:spPr>
          <a:xfrm>
            <a:off x="6501384" y="2468880"/>
            <a:ext cx="49953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Composites own their children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6501384" y="2743200"/>
            <a:ext cx="49953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FilmCategories extends AbstractFilmCategories, holding a std::list&lt;Film*&gt; of sub-slates and titles.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181344" y="329184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D4AF3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8" name="Text 56"/>
          <p:cNvSpPr txBox="1"/>
          <p:nvPr/>
        </p:nvSpPr>
        <p:spPr>
          <a:xfrm>
            <a:off x="6501384" y="3246120"/>
            <a:ext cx="49953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Non-owning dynamic wrapping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6501384" y="3520440"/>
            <a:ext cx="49953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Genres holds a non-owning Film* reference, layering metadata at runtime while delegating object lifetime entirely to the composite.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181344" y="406908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D4AF3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1" name="Text 59"/>
          <p:cNvSpPr txBox="1"/>
          <p:nvPr/>
        </p:nvSpPr>
        <p:spPr>
          <a:xfrm>
            <a:off x="6501384" y="4023360"/>
            <a:ext cx="49953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recursive teardown</a:t>
            </a:r>
            <a:endParaRPr lang="en-US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6501384" y="4297680"/>
            <a:ext cx="49953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ZA" sz="1100" dirty="0">
                <a:solidFill>
                  <a:schemeClr val="bg1">
                    <a:lumMod val="95000"/>
                  </a:schemeClr>
                </a:solidFill>
              </a:rPr>
              <a:t>Categories exclusively own their child pointers—including dynamic genre wrappers—ensuring teardown cascades recursively without double-frees..</a:t>
            </a:r>
            <a:endParaRPr lang="en-US" sz="11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4" name="Shape 48">
            <a:extLst>
              <a:ext uri="{FF2B5EF4-FFF2-40B4-BE49-F238E27FC236}">
                <a16:creationId xmlns:a16="http://schemas.microsoft.com/office/drawing/2014/main" id="{18E7A84F-C210-5068-F6B1-54CB0FEEA97C}"/>
              </a:ext>
            </a:extLst>
          </p:cNvPr>
          <p:cNvSpPr/>
          <p:nvPr/>
        </p:nvSpPr>
        <p:spPr>
          <a:xfrm>
            <a:off x="717804" y="3752031"/>
            <a:ext cx="1965960" cy="502920"/>
          </a:xfrm>
          <a:prstGeom prst="roundRect">
            <a:avLst>
              <a:gd name="adj" fmla="val 10909"/>
            </a:avLst>
          </a:prstGeom>
          <a:solidFill>
            <a:srgbClr val="2A2410"/>
          </a:solidFill>
          <a:ln w="15875">
            <a:solidFill>
              <a:srgbClr val="D4AF37"/>
            </a:solidFill>
            <a:prstDash val="dash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5" name="Text 49">
            <a:extLst>
              <a:ext uri="{FF2B5EF4-FFF2-40B4-BE49-F238E27FC236}">
                <a16:creationId xmlns:a16="http://schemas.microsoft.com/office/drawing/2014/main" id="{0735D7FA-60F5-C89A-B9BF-0B6C2CF25E79}"/>
              </a:ext>
            </a:extLst>
          </p:cNvPr>
          <p:cNvSpPr txBox="1"/>
          <p:nvPr/>
        </p:nvSpPr>
        <p:spPr>
          <a:xfrm>
            <a:off x="790956" y="3739896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D4AF37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Project Alpha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6" name="Text 50">
            <a:extLst>
              <a:ext uri="{FF2B5EF4-FFF2-40B4-BE49-F238E27FC236}">
                <a16:creationId xmlns:a16="http://schemas.microsoft.com/office/drawing/2014/main" id="{FCB00AC4-8D74-97E1-D016-87CD42FDB3BB}"/>
              </a:ext>
            </a:extLst>
          </p:cNvPr>
          <p:cNvSpPr txBox="1"/>
          <p:nvPr/>
        </p:nvSpPr>
        <p:spPr>
          <a:xfrm>
            <a:off x="790956" y="3977640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B9B6AC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(Blockbuster leaf)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1" name="Shape 51">
            <a:extLst>
              <a:ext uri="{FF2B5EF4-FFF2-40B4-BE49-F238E27FC236}">
                <a16:creationId xmlns:a16="http://schemas.microsoft.com/office/drawing/2014/main" id="{583AA580-EC44-7DA0-D76F-3E62743369A6}"/>
              </a:ext>
            </a:extLst>
          </p:cNvPr>
          <p:cNvSpPr/>
          <p:nvPr/>
        </p:nvSpPr>
        <p:spPr>
          <a:xfrm>
            <a:off x="3826764" y="3694176"/>
            <a:ext cx="1965960" cy="502920"/>
          </a:xfrm>
          <a:prstGeom prst="roundRect">
            <a:avLst>
              <a:gd name="adj" fmla="val 10909"/>
            </a:avLst>
          </a:prstGeom>
          <a:solidFill>
            <a:srgbClr val="1A1A1A"/>
          </a:solidFill>
          <a:ln w="12700">
            <a:solidFill>
              <a:srgbClr val="666666"/>
            </a:solidFill>
            <a:prstDash val="dash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2" name="Text 52">
            <a:extLst>
              <a:ext uri="{FF2B5EF4-FFF2-40B4-BE49-F238E27FC236}">
                <a16:creationId xmlns:a16="http://schemas.microsoft.com/office/drawing/2014/main" id="{12464898-8ADF-9FD6-9A43-1D25F52CF3E7}"/>
              </a:ext>
            </a:extLst>
          </p:cNvPr>
          <p:cNvSpPr txBox="1"/>
          <p:nvPr/>
        </p:nvSpPr>
        <p:spPr>
          <a:xfrm>
            <a:off x="3899916" y="3694176"/>
            <a:ext cx="181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0" cap="none" spc="0" normalizeH="0" baseline="0" noProof="0" dirty="0">
                <a:ln>
                  <a:noFill/>
                </a:ln>
                <a:solidFill>
                  <a:srgbClr val="B9B6AC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...other titles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B0B0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11880799" y="0"/>
            <a:ext cx="310896" cy="6858000"/>
          </a:xfrm>
          <a:prstGeom prst="rect">
            <a:avLst/>
          </a:prstGeom>
          <a:solidFill>
            <a:srgbClr val="0B0B0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82296" y="1645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11963095" y="1645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82296" y="6217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11963095" y="6217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Shape 6"/>
          <p:cNvSpPr/>
          <p:nvPr/>
        </p:nvSpPr>
        <p:spPr>
          <a:xfrm>
            <a:off x="82296" y="10789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Shape 7"/>
          <p:cNvSpPr/>
          <p:nvPr/>
        </p:nvSpPr>
        <p:spPr>
          <a:xfrm>
            <a:off x="11963095" y="10789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82296" y="15361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Shape 9"/>
          <p:cNvSpPr/>
          <p:nvPr/>
        </p:nvSpPr>
        <p:spPr>
          <a:xfrm>
            <a:off x="11963095" y="15361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" name="Shape 10"/>
          <p:cNvSpPr/>
          <p:nvPr/>
        </p:nvSpPr>
        <p:spPr>
          <a:xfrm>
            <a:off x="82296" y="19933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Shape 11"/>
          <p:cNvSpPr/>
          <p:nvPr/>
        </p:nvSpPr>
        <p:spPr>
          <a:xfrm>
            <a:off x="11963095" y="19933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" name="Shape 12"/>
          <p:cNvSpPr/>
          <p:nvPr/>
        </p:nvSpPr>
        <p:spPr>
          <a:xfrm>
            <a:off x="82296" y="24505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5" name="Shape 13"/>
          <p:cNvSpPr/>
          <p:nvPr/>
        </p:nvSpPr>
        <p:spPr>
          <a:xfrm>
            <a:off x="11963095" y="24505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6" name="Shape 14"/>
          <p:cNvSpPr/>
          <p:nvPr/>
        </p:nvSpPr>
        <p:spPr>
          <a:xfrm>
            <a:off x="82296" y="29077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" name="Shape 15"/>
          <p:cNvSpPr/>
          <p:nvPr/>
        </p:nvSpPr>
        <p:spPr>
          <a:xfrm>
            <a:off x="11963095" y="29077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8" name="Shape 16"/>
          <p:cNvSpPr/>
          <p:nvPr/>
        </p:nvSpPr>
        <p:spPr>
          <a:xfrm>
            <a:off x="82296" y="33649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9" name="Shape 17"/>
          <p:cNvSpPr/>
          <p:nvPr/>
        </p:nvSpPr>
        <p:spPr>
          <a:xfrm>
            <a:off x="11963095" y="33649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0" name="Shape 18"/>
          <p:cNvSpPr/>
          <p:nvPr/>
        </p:nvSpPr>
        <p:spPr>
          <a:xfrm>
            <a:off x="82296" y="38221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" name="Shape 19"/>
          <p:cNvSpPr/>
          <p:nvPr/>
        </p:nvSpPr>
        <p:spPr>
          <a:xfrm>
            <a:off x="11963095" y="38221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2" name="Shape 20"/>
          <p:cNvSpPr/>
          <p:nvPr/>
        </p:nvSpPr>
        <p:spPr>
          <a:xfrm>
            <a:off x="82296" y="42793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3" name="Shape 21"/>
          <p:cNvSpPr/>
          <p:nvPr/>
        </p:nvSpPr>
        <p:spPr>
          <a:xfrm>
            <a:off x="11963095" y="42793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4" name="Shape 22"/>
          <p:cNvSpPr/>
          <p:nvPr/>
        </p:nvSpPr>
        <p:spPr>
          <a:xfrm>
            <a:off x="82296" y="47365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5" name="Shape 23"/>
          <p:cNvSpPr/>
          <p:nvPr/>
        </p:nvSpPr>
        <p:spPr>
          <a:xfrm>
            <a:off x="11963095" y="47365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6" name="Shape 24"/>
          <p:cNvSpPr/>
          <p:nvPr/>
        </p:nvSpPr>
        <p:spPr>
          <a:xfrm>
            <a:off x="82296" y="51937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7" name="Shape 25"/>
          <p:cNvSpPr/>
          <p:nvPr/>
        </p:nvSpPr>
        <p:spPr>
          <a:xfrm>
            <a:off x="11963095" y="51937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8" name="Shape 26"/>
          <p:cNvSpPr/>
          <p:nvPr/>
        </p:nvSpPr>
        <p:spPr>
          <a:xfrm>
            <a:off x="82296" y="56509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9" name="Shape 27"/>
          <p:cNvSpPr/>
          <p:nvPr/>
        </p:nvSpPr>
        <p:spPr>
          <a:xfrm>
            <a:off x="11963095" y="56509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0" name="Shape 28"/>
          <p:cNvSpPr/>
          <p:nvPr/>
        </p:nvSpPr>
        <p:spPr>
          <a:xfrm>
            <a:off x="82296" y="61081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1" name="Shape 29"/>
          <p:cNvSpPr/>
          <p:nvPr/>
        </p:nvSpPr>
        <p:spPr>
          <a:xfrm>
            <a:off x="11963095" y="61081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2" name="Shape 30"/>
          <p:cNvSpPr/>
          <p:nvPr/>
        </p:nvSpPr>
        <p:spPr>
          <a:xfrm>
            <a:off x="82296" y="65653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3" name="Shape 31"/>
          <p:cNvSpPr/>
          <p:nvPr/>
        </p:nvSpPr>
        <p:spPr>
          <a:xfrm>
            <a:off x="11963095" y="65653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4" name="Text 32"/>
          <p:cNvSpPr txBox="1"/>
          <p:nvPr/>
        </p:nvSpPr>
        <p:spPr>
          <a:xfrm>
            <a:off x="694944" y="292608"/>
            <a:ext cx="108018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2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694944" y="566928"/>
            <a:ext cx="1080180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Genre Layering</a:t>
            </a:r>
            <a:endParaRPr lang="en-US" sz="3000" dirty="0"/>
          </a:p>
        </p:txBody>
      </p:sp>
      <p:sp>
        <p:nvSpPr>
          <p:cNvPr id="36" name="Text 34"/>
          <p:cNvSpPr txBox="1"/>
          <p:nvPr/>
        </p:nvSpPr>
        <p:spPr>
          <a:xfrm>
            <a:off x="694944" y="1115568"/>
            <a:ext cx="108018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9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Decorator Pattern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94944" y="1691640"/>
            <a:ext cx="5394960" cy="3246120"/>
          </a:xfrm>
          <a:prstGeom prst="roundRect">
            <a:avLst>
              <a:gd name="adj" fmla="val 2254"/>
            </a:avLst>
          </a:prstGeom>
          <a:solidFill>
            <a:srgbClr val="262626"/>
          </a:solidFill>
          <a:ln w="9525">
            <a:solidFill>
              <a:srgbClr val="3A3A3A"/>
            </a:solidFill>
            <a:prstDash val="solid"/>
          </a:ln>
          <a:effectLst>
            <a:outerShdw blurRad="762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38" name="Shape 36"/>
          <p:cNvSpPr/>
          <p:nvPr/>
        </p:nvSpPr>
        <p:spPr>
          <a:xfrm>
            <a:off x="969264" y="1965960"/>
            <a:ext cx="4846320" cy="2697480"/>
          </a:xfrm>
          <a:prstGeom prst="roundRect">
            <a:avLst>
              <a:gd name="adj" fmla="val 3390"/>
            </a:avLst>
          </a:prstGeom>
          <a:solidFill>
            <a:srgbClr val="3A2F14"/>
          </a:solidFill>
          <a:ln w="12700">
            <a:solidFill>
              <a:srgbClr val="8A722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9" name="Text 37"/>
          <p:cNvSpPr txBox="1"/>
          <p:nvPr/>
        </p:nvSpPr>
        <p:spPr>
          <a:xfrm>
            <a:off x="1106424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Comedy (Decorator)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1472184" y="2468880"/>
            <a:ext cx="3840480" cy="1691640"/>
          </a:xfrm>
          <a:prstGeom prst="roundRect">
            <a:avLst>
              <a:gd name="adj" fmla="val 5405"/>
            </a:avLst>
          </a:prstGeom>
          <a:solidFill>
            <a:srgbClr val="2E2A18"/>
          </a:solidFill>
          <a:ln w="12700">
            <a:solidFill>
              <a:srgbClr val="8A722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1" name="Text 39"/>
          <p:cNvSpPr txBox="1"/>
          <p:nvPr/>
        </p:nvSpPr>
        <p:spPr>
          <a:xfrm>
            <a:off x="1609344" y="2560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Thriller (Decorator)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2203704" y="301752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D4AF3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3" name="Text 41"/>
          <p:cNvSpPr txBox="1"/>
          <p:nvPr/>
        </p:nvSpPr>
        <p:spPr>
          <a:xfrm>
            <a:off x="2203704" y="30175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Alpha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1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BlockbusterFilm (Leaf)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455664" y="17373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D4AF3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5" name="Text 43"/>
          <p:cNvSpPr txBox="1"/>
          <p:nvPr/>
        </p:nvSpPr>
        <p:spPr>
          <a:xfrm>
            <a:off x="6775704" y="1691640"/>
            <a:ext cx="47210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twist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6775704" y="1965960"/>
            <a:ext cx="47210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calls Project Alpha not just an action film — it's a Psychological Thriller with Dark Comedy elements.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455664" y="251460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D4AF3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8" name="Text 46"/>
          <p:cNvSpPr txBox="1"/>
          <p:nvPr/>
        </p:nvSpPr>
        <p:spPr>
          <a:xfrm>
            <a:off x="6775704" y="2468880"/>
            <a:ext cx="47210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 rejected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6775704" y="2743200"/>
            <a:ext cx="47210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ComedyThrillerBlockbusterFilm subclass. Hardcoded hybrids explode combinatorially as genres multiply.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455664" y="329184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D4AF3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1" name="Text 49"/>
          <p:cNvSpPr txBox="1"/>
          <p:nvPr/>
        </p:nvSpPr>
        <p:spPr>
          <a:xfrm>
            <a:off x="6775704" y="3246120"/>
            <a:ext cx="47210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at runtime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6775704" y="3520440"/>
            <a:ext cx="47210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Comedy and Thriller extend Genres, each holding an internal Film* pointer to whatever they wrap.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455664" y="406908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D4AF3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4" name="Text 52"/>
          <p:cNvSpPr txBox="1"/>
          <p:nvPr/>
        </p:nvSpPr>
        <p:spPr>
          <a:xfrm>
            <a:off x="6775704" y="4023360"/>
            <a:ext cx="47210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calls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6775704" y="4297680"/>
            <a:ext cx="47210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printMetaData() prefixes its own tag, then calls film-&gt;printMetaData() down through every layer to the leaf.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B0B0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11880799" y="0"/>
            <a:ext cx="310896" cy="6858000"/>
          </a:xfrm>
          <a:prstGeom prst="rect">
            <a:avLst/>
          </a:prstGeom>
          <a:solidFill>
            <a:srgbClr val="0B0B0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82296" y="1645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11963095" y="1645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82296" y="6217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11963095" y="6217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Shape 6"/>
          <p:cNvSpPr/>
          <p:nvPr/>
        </p:nvSpPr>
        <p:spPr>
          <a:xfrm>
            <a:off x="82296" y="10789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Shape 7"/>
          <p:cNvSpPr/>
          <p:nvPr/>
        </p:nvSpPr>
        <p:spPr>
          <a:xfrm>
            <a:off x="11963095" y="10789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82296" y="15361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Shape 9"/>
          <p:cNvSpPr/>
          <p:nvPr/>
        </p:nvSpPr>
        <p:spPr>
          <a:xfrm>
            <a:off x="11963095" y="15361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" name="Shape 10"/>
          <p:cNvSpPr/>
          <p:nvPr/>
        </p:nvSpPr>
        <p:spPr>
          <a:xfrm>
            <a:off x="82296" y="19933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Shape 11"/>
          <p:cNvSpPr/>
          <p:nvPr/>
        </p:nvSpPr>
        <p:spPr>
          <a:xfrm>
            <a:off x="11963095" y="19933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" name="Shape 12"/>
          <p:cNvSpPr/>
          <p:nvPr/>
        </p:nvSpPr>
        <p:spPr>
          <a:xfrm>
            <a:off x="82296" y="24505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5" name="Shape 13"/>
          <p:cNvSpPr/>
          <p:nvPr/>
        </p:nvSpPr>
        <p:spPr>
          <a:xfrm>
            <a:off x="11963095" y="24505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6" name="Shape 14"/>
          <p:cNvSpPr/>
          <p:nvPr/>
        </p:nvSpPr>
        <p:spPr>
          <a:xfrm>
            <a:off x="82296" y="29077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" name="Shape 15"/>
          <p:cNvSpPr/>
          <p:nvPr/>
        </p:nvSpPr>
        <p:spPr>
          <a:xfrm>
            <a:off x="11963095" y="29077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8" name="Shape 16"/>
          <p:cNvSpPr/>
          <p:nvPr/>
        </p:nvSpPr>
        <p:spPr>
          <a:xfrm>
            <a:off x="82296" y="33649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9" name="Shape 17"/>
          <p:cNvSpPr/>
          <p:nvPr/>
        </p:nvSpPr>
        <p:spPr>
          <a:xfrm>
            <a:off x="11963095" y="33649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0" name="Shape 18"/>
          <p:cNvSpPr/>
          <p:nvPr/>
        </p:nvSpPr>
        <p:spPr>
          <a:xfrm>
            <a:off x="82296" y="38221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" name="Shape 19"/>
          <p:cNvSpPr/>
          <p:nvPr/>
        </p:nvSpPr>
        <p:spPr>
          <a:xfrm>
            <a:off x="11963095" y="38221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2" name="Shape 20"/>
          <p:cNvSpPr/>
          <p:nvPr/>
        </p:nvSpPr>
        <p:spPr>
          <a:xfrm>
            <a:off x="82296" y="42793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3" name="Shape 21"/>
          <p:cNvSpPr/>
          <p:nvPr/>
        </p:nvSpPr>
        <p:spPr>
          <a:xfrm>
            <a:off x="11963095" y="42793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4" name="Shape 22"/>
          <p:cNvSpPr/>
          <p:nvPr/>
        </p:nvSpPr>
        <p:spPr>
          <a:xfrm>
            <a:off x="82296" y="47365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5" name="Shape 23"/>
          <p:cNvSpPr/>
          <p:nvPr/>
        </p:nvSpPr>
        <p:spPr>
          <a:xfrm>
            <a:off x="11963095" y="47365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6" name="Shape 24"/>
          <p:cNvSpPr/>
          <p:nvPr/>
        </p:nvSpPr>
        <p:spPr>
          <a:xfrm>
            <a:off x="82296" y="51937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7" name="Shape 25"/>
          <p:cNvSpPr/>
          <p:nvPr/>
        </p:nvSpPr>
        <p:spPr>
          <a:xfrm>
            <a:off x="11963095" y="51937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8" name="Shape 26"/>
          <p:cNvSpPr/>
          <p:nvPr/>
        </p:nvSpPr>
        <p:spPr>
          <a:xfrm>
            <a:off x="82296" y="56509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9" name="Shape 27"/>
          <p:cNvSpPr/>
          <p:nvPr/>
        </p:nvSpPr>
        <p:spPr>
          <a:xfrm>
            <a:off x="11963095" y="56509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0" name="Shape 28"/>
          <p:cNvSpPr/>
          <p:nvPr/>
        </p:nvSpPr>
        <p:spPr>
          <a:xfrm>
            <a:off x="82296" y="61081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1" name="Shape 29"/>
          <p:cNvSpPr/>
          <p:nvPr/>
        </p:nvSpPr>
        <p:spPr>
          <a:xfrm>
            <a:off x="11963095" y="61081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2" name="Shape 30"/>
          <p:cNvSpPr/>
          <p:nvPr/>
        </p:nvSpPr>
        <p:spPr>
          <a:xfrm>
            <a:off x="82296" y="65653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3" name="Shape 31"/>
          <p:cNvSpPr/>
          <p:nvPr/>
        </p:nvSpPr>
        <p:spPr>
          <a:xfrm>
            <a:off x="11963095" y="65653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4" name="Text 32"/>
          <p:cNvSpPr txBox="1"/>
          <p:nvPr/>
        </p:nvSpPr>
        <p:spPr>
          <a:xfrm>
            <a:off x="694944" y="292608"/>
            <a:ext cx="108018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3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694944" y="566928"/>
            <a:ext cx="1080180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Moving the Pipeline Forward</a:t>
            </a:r>
            <a:endParaRPr lang="en-US" sz="3000" dirty="0"/>
          </a:p>
        </p:txBody>
      </p:sp>
      <p:sp>
        <p:nvSpPr>
          <p:cNvPr id="36" name="Text 34"/>
          <p:cNvSpPr txBox="1"/>
          <p:nvPr/>
        </p:nvSpPr>
        <p:spPr>
          <a:xfrm>
            <a:off x="694944" y="1115568"/>
            <a:ext cx="108018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9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Pattern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94944" y="1874520"/>
            <a:ext cx="10801807" cy="1600200"/>
          </a:xfrm>
          <a:prstGeom prst="roundRect">
            <a:avLst>
              <a:gd name="adj" fmla="val 4571"/>
            </a:avLst>
          </a:prstGeom>
          <a:solidFill>
            <a:srgbClr val="262626"/>
          </a:solidFill>
          <a:ln w="9525">
            <a:solidFill>
              <a:srgbClr val="3A3A3A"/>
            </a:solidFill>
            <a:prstDash val="solid"/>
          </a:ln>
          <a:effectLst>
            <a:outerShdw blurRad="762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38" name="Shape 36"/>
          <p:cNvSpPr/>
          <p:nvPr/>
        </p:nvSpPr>
        <p:spPr>
          <a:xfrm>
            <a:off x="1752448" y="219456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1F1F1F"/>
          </a:solidFill>
          <a:ln w="15875">
            <a:solidFill>
              <a:srgbClr val="8A722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9" name="Text 37"/>
          <p:cNvSpPr txBox="1"/>
          <p:nvPr/>
        </p:nvSpPr>
        <p:spPr>
          <a:xfrm>
            <a:off x="1752448" y="2194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038448" y="2514600"/>
            <a:ext cx="91440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41" name="Text 39"/>
          <p:cNvSpPr txBox="1"/>
          <p:nvPr/>
        </p:nvSpPr>
        <p:spPr>
          <a:xfrm>
            <a:off x="4038448" y="21305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B9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changeState()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952848" y="219456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D4AF37"/>
          </a:solidFill>
          <a:ln w="15875">
            <a:solidFill>
              <a:srgbClr val="8A722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3" name="Text 41"/>
          <p:cNvSpPr txBox="1"/>
          <p:nvPr/>
        </p:nvSpPr>
        <p:spPr>
          <a:xfrm>
            <a:off x="4952848" y="2194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238848" y="2514600"/>
            <a:ext cx="91440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45" name="Text 43"/>
          <p:cNvSpPr txBox="1"/>
          <p:nvPr/>
        </p:nvSpPr>
        <p:spPr>
          <a:xfrm>
            <a:off x="7238848" y="21305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B9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changeState()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153248" y="219456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1F1F1F"/>
          </a:solidFill>
          <a:ln w="15875">
            <a:solidFill>
              <a:srgbClr val="8A722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7" name="Text 45"/>
          <p:cNvSpPr txBox="1"/>
          <p:nvPr/>
        </p:nvSpPr>
        <p:spPr>
          <a:xfrm>
            <a:off x="8153248" y="2194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94944" y="3749040"/>
            <a:ext cx="5240884" cy="1234440"/>
          </a:xfrm>
          <a:prstGeom prst="roundRect">
            <a:avLst>
              <a:gd name="adj" fmla="val 5926"/>
            </a:avLst>
          </a:prstGeom>
          <a:solidFill>
            <a:srgbClr val="1F1F1F"/>
          </a:solidFill>
          <a:ln w="9525">
            <a:solidFill>
              <a:srgbClr val="3A3A3A"/>
            </a:solidFill>
            <a:prstDash val="solid"/>
          </a:ln>
          <a:effectLst>
            <a:outerShdw blurRad="762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49" name="Text 47"/>
          <p:cNvSpPr txBox="1"/>
          <p:nvPr/>
        </p:nvSpPr>
        <p:spPr>
          <a:xfrm>
            <a:off x="923544" y="3913632"/>
            <a:ext cx="47836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ALPHA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923544" y="4206240"/>
            <a:ext cx="47836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Finishes scripting and moves onto soundstages: Development → Production, without altering its place in the catalog or shedding its genre decorators.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255868" y="3749040"/>
            <a:ext cx="5240884" cy="1234440"/>
          </a:xfrm>
          <a:prstGeom prst="roundRect">
            <a:avLst>
              <a:gd name="adj" fmla="val 5926"/>
            </a:avLst>
          </a:prstGeom>
          <a:solidFill>
            <a:srgbClr val="1F1F1F"/>
          </a:solidFill>
          <a:ln w="9525">
            <a:solidFill>
              <a:srgbClr val="3A3A3A"/>
            </a:solidFill>
            <a:prstDash val="solid"/>
          </a:ln>
          <a:effectLst>
            <a:outerShdw blurRad="762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2" name="Text 50"/>
          <p:cNvSpPr txBox="1"/>
          <p:nvPr/>
        </p:nvSpPr>
        <p:spPr>
          <a:xfrm>
            <a:off x="6484468" y="3913632"/>
            <a:ext cx="47836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BETA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6484468" y="4206240"/>
            <a:ext cx="47836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indie drama stuck in script development, months later — its FilmTypes context still holds a Development state pointer.</a:t>
            </a:r>
            <a:endParaRPr lang="en-US" sz="1150" dirty="0"/>
          </a:p>
        </p:txBody>
      </p:sp>
      <p:sp>
        <p:nvSpPr>
          <p:cNvPr id="54" name="Text 52"/>
          <p:cNvSpPr txBox="1"/>
          <p:nvPr/>
        </p:nvSpPr>
        <p:spPr>
          <a:xfrm>
            <a:off x="694944" y="5212080"/>
            <a:ext cx="108018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9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win: lifecycle stage is decoupled from film identity — FilmTypes stores a polymorphic States* pointer, so behavior and phase metadata change without touching structure.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B0B0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11880799" y="0"/>
            <a:ext cx="310896" cy="6858000"/>
          </a:xfrm>
          <a:prstGeom prst="rect">
            <a:avLst/>
          </a:prstGeom>
          <a:solidFill>
            <a:srgbClr val="0B0B0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82296" y="1645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11963095" y="1645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82296" y="6217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11963095" y="6217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Shape 6"/>
          <p:cNvSpPr/>
          <p:nvPr/>
        </p:nvSpPr>
        <p:spPr>
          <a:xfrm>
            <a:off x="82296" y="10789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Shape 7"/>
          <p:cNvSpPr/>
          <p:nvPr/>
        </p:nvSpPr>
        <p:spPr>
          <a:xfrm>
            <a:off x="11963095" y="10789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82296" y="15361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Shape 9"/>
          <p:cNvSpPr/>
          <p:nvPr/>
        </p:nvSpPr>
        <p:spPr>
          <a:xfrm>
            <a:off x="11963095" y="15361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" name="Shape 10"/>
          <p:cNvSpPr/>
          <p:nvPr/>
        </p:nvSpPr>
        <p:spPr>
          <a:xfrm>
            <a:off x="82296" y="19933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Shape 11"/>
          <p:cNvSpPr/>
          <p:nvPr/>
        </p:nvSpPr>
        <p:spPr>
          <a:xfrm>
            <a:off x="11963095" y="19933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" name="Shape 12"/>
          <p:cNvSpPr/>
          <p:nvPr/>
        </p:nvSpPr>
        <p:spPr>
          <a:xfrm>
            <a:off x="82296" y="24505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5" name="Shape 13"/>
          <p:cNvSpPr/>
          <p:nvPr/>
        </p:nvSpPr>
        <p:spPr>
          <a:xfrm>
            <a:off x="11963095" y="24505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6" name="Shape 14"/>
          <p:cNvSpPr/>
          <p:nvPr/>
        </p:nvSpPr>
        <p:spPr>
          <a:xfrm>
            <a:off x="82296" y="29077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" name="Shape 15"/>
          <p:cNvSpPr/>
          <p:nvPr/>
        </p:nvSpPr>
        <p:spPr>
          <a:xfrm>
            <a:off x="11963095" y="29077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8" name="Shape 16"/>
          <p:cNvSpPr/>
          <p:nvPr/>
        </p:nvSpPr>
        <p:spPr>
          <a:xfrm>
            <a:off x="82296" y="33649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9" name="Shape 17"/>
          <p:cNvSpPr/>
          <p:nvPr/>
        </p:nvSpPr>
        <p:spPr>
          <a:xfrm>
            <a:off x="11963095" y="33649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0" name="Shape 18"/>
          <p:cNvSpPr/>
          <p:nvPr/>
        </p:nvSpPr>
        <p:spPr>
          <a:xfrm>
            <a:off x="82296" y="38221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" name="Shape 19"/>
          <p:cNvSpPr/>
          <p:nvPr/>
        </p:nvSpPr>
        <p:spPr>
          <a:xfrm>
            <a:off x="11963095" y="38221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2" name="Shape 20"/>
          <p:cNvSpPr/>
          <p:nvPr/>
        </p:nvSpPr>
        <p:spPr>
          <a:xfrm>
            <a:off x="82296" y="42793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3" name="Shape 21"/>
          <p:cNvSpPr/>
          <p:nvPr/>
        </p:nvSpPr>
        <p:spPr>
          <a:xfrm>
            <a:off x="11963095" y="42793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4" name="Shape 22"/>
          <p:cNvSpPr/>
          <p:nvPr/>
        </p:nvSpPr>
        <p:spPr>
          <a:xfrm>
            <a:off x="82296" y="47365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5" name="Shape 23"/>
          <p:cNvSpPr/>
          <p:nvPr/>
        </p:nvSpPr>
        <p:spPr>
          <a:xfrm>
            <a:off x="11963095" y="47365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6" name="Shape 24"/>
          <p:cNvSpPr/>
          <p:nvPr/>
        </p:nvSpPr>
        <p:spPr>
          <a:xfrm>
            <a:off x="82296" y="51937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7" name="Shape 25"/>
          <p:cNvSpPr/>
          <p:nvPr/>
        </p:nvSpPr>
        <p:spPr>
          <a:xfrm>
            <a:off x="11963095" y="51937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8" name="Shape 26"/>
          <p:cNvSpPr/>
          <p:nvPr/>
        </p:nvSpPr>
        <p:spPr>
          <a:xfrm>
            <a:off x="82296" y="56509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9" name="Shape 27"/>
          <p:cNvSpPr/>
          <p:nvPr/>
        </p:nvSpPr>
        <p:spPr>
          <a:xfrm>
            <a:off x="11963095" y="56509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0" name="Shape 28"/>
          <p:cNvSpPr/>
          <p:nvPr/>
        </p:nvSpPr>
        <p:spPr>
          <a:xfrm>
            <a:off x="82296" y="61081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1" name="Shape 29"/>
          <p:cNvSpPr/>
          <p:nvPr/>
        </p:nvSpPr>
        <p:spPr>
          <a:xfrm>
            <a:off x="11963095" y="61081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2" name="Shape 30"/>
          <p:cNvSpPr/>
          <p:nvPr/>
        </p:nvSpPr>
        <p:spPr>
          <a:xfrm>
            <a:off x="82296" y="65653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3" name="Shape 31"/>
          <p:cNvSpPr/>
          <p:nvPr/>
        </p:nvSpPr>
        <p:spPr>
          <a:xfrm>
            <a:off x="11963095" y="65653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4" name="Text 32"/>
          <p:cNvSpPr txBox="1"/>
          <p:nvPr/>
        </p:nvSpPr>
        <p:spPr>
          <a:xfrm>
            <a:off x="694944" y="292608"/>
            <a:ext cx="108018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4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694944" y="566928"/>
            <a:ext cx="1080180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Executive Audit</a:t>
            </a:r>
            <a:endParaRPr lang="en-US" sz="3000" dirty="0"/>
          </a:p>
        </p:txBody>
      </p:sp>
      <p:sp>
        <p:nvSpPr>
          <p:cNvPr id="36" name="Text 34"/>
          <p:cNvSpPr txBox="1"/>
          <p:nvPr/>
        </p:nvSpPr>
        <p:spPr>
          <a:xfrm>
            <a:off x="694944" y="1115568"/>
            <a:ext cx="108018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9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State-Based Filtered Iteration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94944" y="1691640"/>
            <a:ext cx="5943600" cy="1005840"/>
          </a:xfrm>
          <a:prstGeom prst="roundRect">
            <a:avLst>
              <a:gd name="adj" fmla="val 7273"/>
            </a:avLst>
          </a:prstGeom>
          <a:solidFill>
            <a:srgbClr val="262626"/>
          </a:solidFill>
          <a:ln w="9525">
            <a:solidFill>
              <a:srgbClr val="3A3A3A"/>
            </a:solidFill>
            <a:prstDash val="solid"/>
          </a:ln>
          <a:effectLst>
            <a:outerShdw blurRad="762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38" name="Text 36"/>
          <p:cNvSpPr txBox="1"/>
          <p:nvPr/>
        </p:nvSpPr>
        <p:spPr>
          <a:xfrm>
            <a:off x="969264" y="182880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F2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“Show me every project currently filming on soundstages in Summer Releases, for a cost audit.”</a:t>
            </a:r>
            <a:endParaRPr lang="en-US" sz="1450" dirty="0"/>
          </a:p>
        </p:txBody>
      </p:sp>
      <p:sp>
        <p:nvSpPr>
          <p:cNvPr id="39" name="Shape 37"/>
          <p:cNvSpPr/>
          <p:nvPr/>
        </p:nvSpPr>
        <p:spPr>
          <a:xfrm>
            <a:off x="694944" y="2926080"/>
            <a:ext cx="5943600" cy="1883664"/>
          </a:xfrm>
          <a:prstGeom prst="roundRect">
            <a:avLst>
              <a:gd name="adj" fmla="val 3883"/>
            </a:avLst>
          </a:prstGeom>
          <a:solidFill>
            <a:srgbClr val="262626"/>
          </a:solidFill>
          <a:ln w="9525">
            <a:solidFill>
              <a:srgbClr val="3A3A3A"/>
            </a:solidFill>
            <a:prstDash val="solid"/>
          </a:ln>
          <a:effectLst>
            <a:outerShdw blurRad="762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40" name="Text 38"/>
          <p:cNvSpPr txBox="1"/>
          <p:nvPr/>
        </p:nvSpPr>
        <p:spPr>
          <a:xfrm>
            <a:off x="969264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3438144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5266944" y="30175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969264" y="338328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Alpha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3438144" y="33832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266944" y="3456432"/>
            <a:ext cx="1051560" cy="329184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6" name="Text 44"/>
          <p:cNvSpPr txBox="1"/>
          <p:nvPr/>
        </p:nvSpPr>
        <p:spPr>
          <a:xfrm>
            <a:off x="5266944" y="345643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969264" y="395020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Beta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3438144" y="395020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5266944" y="4023360"/>
            <a:ext cx="1051560" cy="329184"/>
          </a:xfrm>
          <a:prstGeom prst="roundRect">
            <a:avLst>
              <a:gd name="adj" fmla="val 16667"/>
            </a:avLst>
          </a:prstGeom>
          <a:solidFill>
            <a:srgbClr val="3A3A3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0" name="Text 48"/>
          <p:cNvSpPr txBox="1"/>
          <p:nvPr/>
        </p:nvSpPr>
        <p:spPr>
          <a:xfrm>
            <a:off x="5266944" y="402336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9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004304" y="17373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D4AF3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2" name="Text 50"/>
          <p:cNvSpPr txBox="1"/>
          <p:nvPr/>
        </p:nvSpPr>
        <p:spPr>
          <a:xfrm>
            <a:off x="7324344" y="1691640"/>
            <a:ext cx="41724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exposed internals</a:t>
            </a:r>
            <a:endParaRPr lang="en-US" sz="1250" dirty="0"/>
          </a:p>
        </p:txBody>
      </p:sp>
      <p:sp>
        <p:nvSpPr>
          <p:cNvPr id="53" name="Text 51"/>
          <p:cNvSpPr txBox="1"/>
          <p:nvPr/>
        </p:nvSpPr>
        <p:spPr>
          <a:xfrm>
            <a:off x="7324344" y="1965960"/>
            <a:ext cx="41724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caller never writes nested loops or touches FilmCategories' internal std::list pointers.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004304" y="251460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D4AF3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5" name="Text 53"/>
          <p:cNvSpPr txBox="1"/>
          <p:nvPr/>
        </p:nvSpPr>
        <p:spPr>
          <a:xfrm>
            <a:off x="7324344" y="2468880"/>
            <a:ext cx="41724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Encapsulated filtering</a:t>
            </a:r>
            <a:endParaRPr lang="en-US" sz="1250" dirty="0"/>
          </a:p>
        </p:txBody>
      </p:sp>
      <p:sp>
        <p:nvSpPr>
          <p:cNvPr id="56" name="Text 54"/>
          <p:cNvSpPr txBox="1"/>
          <p:nvPr/>
        </p:nvSpPr>
        <p:spPr>
          <a:xfrm>
            <a:off x="7324344" y="2743200"/>
            <a:ext cx="41724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StateBasedIterator wraps the category aggregate with a target filter, e.g. targetState = "Production".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7004304" y="329184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D4AF3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8" name="Text 56"/>
          <p:cNvSpPr txBox="1"/>
          <p:nvPr/>
        </p:nvSpPr>
        <p:spPr>
          <a:xfrm>
            <a:off x="7324344" y="3246120"/>
            <a:ext cx="41724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Unwraps decorators transparently</a:t>
            </a:r>
            <a:endParaRPr lang="en-US" sz="1250" dirty="0"/>
          </a:p>
        </p:txBody>
      </p:sp>
      <p:sp>
        <p:nvSpPr>
          <p:cNvPr id="59" name="Text 57"/>
          <p:cNvSpPr txBox="1"/>
          <p:nvPr/>
        </p:nvSpPr>
        <p:spPr>
          <a:xfrm>
            <a:off x="7324344" y="3520440"/>
            <a:ext cx="41724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traverses Comedy → Thriller → BlockbusterFilm to inspect the core getState().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7004304" y="406908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D4AF3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1" name="Text 59"/>
          <p:cNvSpPr txBox="1"/>
          <p:nvPr/>
        </p:nvSpPr>
        <p:spPr>
          <a:xfrm>
            <a:off x="7324344" y="4023360"/>
            <a:ext cx="41724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Non-owning references</a:t>
            </a:r>
            <a:endParaRPr lang="en-US" sz="1250" dirty="0"/>
          </a:p>
        </p:txBody>
      </p:sp>
      <p:sp>
        <p:nvSpPr>
          <p:cNvPr id="62" name="Text 60"/>
          <p:cNvSpPr txBox="1"/>
          <p:nvPr/>
        </p:nvSpPr>
        <p:spPr>
          <a:xfrm>
            <a:off x="7324344" y="4297680"/>
            <a:ext cx="41724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iterator never owns catalog nodes; it's freed independently by the caller.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B0B0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11880799" y="0"/>
            <a:ext cx="310896" cy="6858000"/>
          </a:xfrm>
          <a:prstGeom prst="rect">
            <a:avLst/>
          </a:prstGeom>
          <a:solidFill>
            <a:srgbClr val="0B0B0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82296" y="1645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11963095" y="1645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82296" y="6217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11963095" y="6217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Shape 6"/>
          <p:cNvSpPr/>
          <p:nvPr/>
        </p:nvSpPr>
        <p:spPr>
          <a:xfrm>
            <a:off x="82296" y="10789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Shape 7"/>
          <p:cNvSpPr/>
          <p:nvPr/>
        </p:nvSpPr>
        <p:spPr>
          <a:xfrm>
            <a:off x="11963095" y="10789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82296" y="15361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Shape 9"/>
          <p:cNvSpPr/>
          <p:nvPr/>
        </p:nvSpPr>
        <p:spPr>
          <a:xfrm>
            <a:off x="11963095" y="15361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" name="Shape 10"/>
          <p:cNvSpPr/>
          <p:nvPr/>
        </p:nvSpPr>
        <p:spPr>
          <a:xfrm>
            <a:off x="82296" y="19933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Shape 11"/>
          <p:cNvSpPr/>
          <p:nvPr/>
        </p:nvSpPr>
        <p:spPr>
          <a:xfrm>
            <a:off x="11963095" y="19933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" name="Shape 12"/>
          <p:cNvSpPr/>
          <p:nvPr/>
        </p:nvSpPr>
        <p:spPr>
          <a:xfrm>
            <a:off x="82296" y="24505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5" name="Shape 13"/>
          <p:cNvSpPr/>
          <p:nvPr/>
        </p:nvSpPr>
        <p:spPr>
          <a:xfrm>
            <a:off x="11963095" y="24505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6" name="Shape 14"/>
          <p:cNvSpPr/>
          <p:nvPr/>
        </p:nvSpPr>
        <p:spPr>
          <a:xfrm>
            <a:off x="82296" y="29077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" name="Shape 15"/>
          <p:cNvSpPr/>
          <p:nvPr/>
        </p:nvSpPr>
        <p:spPr>
          <a:xfrm>
            <a:off x="11963095" y="29077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8" name="Shape 16"/>
          <p:cNvSpPr/>
          <p:nvPr/>
        </p:nvSpPr>
        <p:spPr>
          <a:xfrm>
            <a:off x="82296" y="33649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9" name="Shape 17"/>
          <p:cNvSpPr/>
          <p:nvPr/>
        </p:nvSpPr>
        <p:spPr>
          <a:xfrm>
            <a:off x="11963095" y="33649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0" name="Shape 18"/>
          <p:cNvSpPr/>
          <p:nvPr/>
        </p:nvSpPr>
        <p:spPr>
          <a:xfrm>
            <a:off x="82296" y="38221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" name="Shape 19"/>
          <p:cNvSpPr/>
          <p:nvPr/>
        </p:nvSpPr>
        <p:spPr>
          <a:xfrm>
            <a:off x="11963095" y="38221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2" name="Shape 20"/>
          <p:cNvSpPr/>
          <p:nvPr/>
        </p:nvSpPr>
        <p:spPr>
          <a:xfrm>
            <a:off x="82296" y="42793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3" name="Shape 21"/>
          <p:cNvSpPr/>
          <p:nvPr/>
        </p:nvSpPr>
        <p:spPr>
          <a:xfrm>
            <a:off x="11963095" y="42793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4" name="Shape 22"/>
          <p:cNvSpPr/>
          <p:nvPr/>
        </p:nvSpPr>
        <p:spPr>
          <a:xfrm>
            <a:off x="82296" y="47365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5" name="Shape 23"/>
          <p:cNvSpPr/>
          <p:nvPr/>
        </p:nvSpPr>
        <p:spPr>
          <a:xfrm>
            <a:off x="11963095" y="47365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6" name="Shape 24"/>
          <p:cNvSpPr/>
          <p:nvPr/>
        </p:nvSpPr>
        <p:spPr>
          <a:xfrm>
            <a:off x="82296" y="51937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7" name="Shape 25"/>
          <p:cNvSpPr/>
          <p:nvPr/>
        </p:nvSpPr>
        <p:spPr>
          <a:xfrm>
            <a:off x="11963095" y="51937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8" name="Shape 26"/>
          <p:cNvSpPr/>
          <p:nvPr/>
        </p:nvSpPr>
        <p:spPr>
          <a:xfrm>
            <a:off x="82296" y="56509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9" name="Shape 27"/>
          <p:cNvSpPr/>
          <p:nvPr/>
        </p:nvSpPr>
        <p:spPr>
          <a:xfrm>
            <a:off x="11963095" y="56509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0" name="Shape 28"/>
          <p:cNvSpPr/>
          <p:nvPr/>
        </p:nvSpPr>
        <p:spPr>
          <a:xfrm>
            <a:off x="82296" y="61081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1" name="Shape 29"/>
          <p:cNvSpPr/>
          <p:nvPr/>
        </p:nvSpPr>
        <p:spPr>
          <a:xfrm>
            <a:off x="11963095" y="61081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2" name="Shape 30"/>
          <p:cNvSpPr/>
          <p:nvPr/>
        </p:nvSpPr>
        <p:spPr>
          <a:xfrm>
            <a:off x="82296" y="65653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3" name="Shape 31"/>
          <p:cNvSpPr/>
          <p:nvPr/>
        </p:nvSpPr>
        <p:spPr>
          <a:xfrm>
            <a:off x="11963095" y="6565392"/>
            <a:ext cx="146304" cy="201168"/>
          </a:xfrm>
          <a:prstGeom prst="roundRect">
            <a:avLst>
              <a:gd name="adj" fmla="val 25000"/>
            </a:avLst>
          </a:prstGeom>
          <a:solidFill>
            <a:srgbClr val="8A722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4" name="Text 32"/>
          <p:cNvSpPr txBox="1"/>
          <p:nvPr/>
        </p:nvSpPr>
        <p:spPr>
          <a:xfrm>
            <a:off x="780440" y="265176"/>
            <a:ext cx="108018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r>
              <a:rPr lang="en-US" sz="1200" b="1" kern="0" spc="3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694944" y="566928"/>
            <a:ext cx="1080180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 Defense</a:t>
            </a:r>
            <a:endParaRPr lang="en-US" sz="3000" dirty="0"/>
          </a:p>
        </p:txBody>
      </p:sp>
      <p:sp>
        <p:nvSpPr>
          <p:cNvPr id="36" name="Text 34"/>
          <p:cNvSpPr txBox="1"/>
          <p:nvPr/>
        </p:nvSpPr>
        <p:spPr>
          <a:xfrm>
            <a:off x="694944" y="1115568"/>
            <a:ext cx="108018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9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Tooling, Memory Boundaries &amp; Clean Teardown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94944" y="1691640"/>
            <a:ext cx="5120640" cy="3246120"/>
          </a:xfrm>
          <a:prstGeom prst="roundRect">
            <a:avLst>
              <a:gd name="adj" fmla="val 2254"/>
            </a:avLst>
          </a:prstGeom>
          <a:solidFill>
            <a:srgbClr val="262626"/>
          </a:solidFill>
          <a:ln w="9525">
            <a:solidFill>
              <a:srgbClr val="3A3A3A"/>
            </a:solidFill>
            <a:prstDash val="solid"/>
          </a:ln>
          <a:effectLst>
            <a:outerShdw blurRad="762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38" name="Text 36"/>
          <p:cNvSpPr txBox="1"/>
          <p:nvPr/>
        </p:nvSpPr>
        <p:spPr>
          <a:xfrm>
            <a:off x="950976" y="1874520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OWNERSHIP LIFECYCLE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950976" y="2194560"/>
            <a:ext cx="4608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9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Tearing down the studio slate: what happens when “delete rootCatalog;” runs?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50976" y="27432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8A722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1" name="Text 39"/>
          <p:cNvSpPr txBox="1"/>
          <p:nvPr/>
        </p:nvSpPr>
        <p:spPr>
          <a:xfrm>
            <a:off x="950976" y="2743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1353312" y="27157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~AbstractFilmCategories()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1353312" y="298094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B9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Iterates its children list, deleting each subcategory and decorator.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50976" y="3456432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8A722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5" name="Text 43"/>
          <p:cNvSpPr txBox="1"/>
          <p:nvPr/>
        </p:nvSpPr>
        <p:spPr>
          <a:xfrm>
            <a:off x="950976" y="3456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1353312" y="34290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~Genres()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1353312" y="369417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B9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a non-owning wrapper, cleans up decoration state without calling delete film;, preventing double-frees.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950976" y="4169664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8A722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9" name="Text 47"/>
          <p:cNvSpPr txBox="1"/>
          <p:nvPr/>
        </p:nvSpPr>
        <p:spPr>
          <a:xfrm>
            <a:off x="950976" y="4169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1353312" y="41422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~FilmTypes()</a:t>
            </a:r>
            <a:endParaRPr lang="en-US" sz="1250" dirty="0"/>
          </a:p>
        </p:txBody>
      </p:sp>
      <p:sp>
        <p:nvSpPr>
          <p:cNvPr id="51" name="Text 49"/>
          <p:cNvSpPr txBox="1"/>
          <p:nvPr/>
        </p:nvSpPr>
        <p:spPr>
          <a:xfrm>
            <a:off x="1353312" y="44074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B9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Deletes its active States* state instance.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6181344" y="1691640"/>
            <a:ext cx="53154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DIAGNOSTIC VERDICT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181344" y="2103120"/>
            <a:ext cx="5315407" cy="896112"/>
          </a:xfrm>
          <a:prstGeom prst="roundRect">
            <a:avLst>
              <a:gd name="adj" fmla="val 8163"/>
            </a:avLst>
          </a:prstGeom>
          <a:solidFill>
            <a:srgbClr val="1F1F1F"/>
          </a:solidFill>
          <a:ln w="9525">
            <a:solidFill>
              <a:srgbClr val="3A3A3A"/>
            </a:solidFill>
            <a:prstDash val="solid"/>
          </a:ln>
          <a:effectLst>
            <a:outerShdw blurRad="762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4" name="Shape 52"/>
          <p:cNvSpPr/>
          <p:nvPr/>
        </p:nvSpPr>
        <p:spPr>
          <a:xfrm>
            <a:off x="6364224" y="239572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5" name="Text 53"/>
          <p:cNvSpPr txBox="1"/>
          <p:nvPr/>
        </p:nvSpPr>
        <p:spPr>
          <a:xfrm>
            <a:off x="6364224" y="2395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56" name="Text 54"/>
          <p:cNvSpPr txBox="1"/>
          <p:nvPr/>
        </p:nvSpPr>
        <p:spPr>
          <a:xfrm>
            <a:off x="6803136" y="2221992"/>
            <a:ext cx="449244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6803136" y="2478024"/>
            <a:ext cx="44924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container runs identically across all hosts via Dockerfile and Makefile.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181344" y="3127248"/>
            <a:ext cx="5315407" cy="896112"/>
          </a:xfrm>
          <a:prstGeom prst="roundRect">
            <a:avLst>
              <a:gd name="adj" fmla="val 8163"/>
            </a:avLst>
          </a:prstGeom>
          <a:solidFill>
            <a:srgbClr val="1F1F1F"/>
          </a:solidFill>
          <a:ln w="9525">
            <a:solidFill>
              <a:srgbClr val="3A3A3A"/>
            </a:solidFill>
            <a:prstDash val="solid"/>
          </a:ln>
          <a:effectLst>
            <a:outerShdw blurRad="762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9" name="Shape 57"/>
          <p:cNvSpPr/>
          <p:nvPr/>
        </p:nvSpPr>
        <p:spPr>
          <a:xfrm>
            <a:off x="6364224" y="341985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0" name="Text 58"/>
          <p:cNvSpPr txBox="1"/>
          <p:nvPr/>
        </p:nvSpPr>
        <p:spPr>
          <a:xfrm>
            <a:off x="6364224" y="3419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61" name="Text 59"/>
          <p:cNvSpPr txBox="1"/>
          <p:nvPr/>
        </p:nvSpPr>
        <p:spPr>
          <a:xfrm>
            <a:off x="6803136" y="3246120"/>
            <a:ext cx="449244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VALGRIND AUDIT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6803136" y="3502152"/>
            <a:ext cx="44924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leaks, zero errors — all heap blocks freed, no leaks possible.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6181344" y="4151376"/>
            <a:ext cx="5315407" cy="896112"/>
          </a:xfrm>
          <a:prstGeom prst="roundRect">
            <a:avLst>
              <a:gd name="adj" fmla="val 8163"/>
            </a:avLst>
          </a:prstGeom>
          <a:solidFill>
            <a:srgbClr val="1F1F1F"/>
          </a:solidFill>
          <a:ln w="9525">
            <a:solidFill>
              <a:srgbClr val="3A3A3A"/>
            </a:solidFill>
            <a:prstDash val="solid"/>
          </a:ln>
          <a:effectLst>
            <a:outerShdw blurRad="762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4" name="Shape 62"/>
          <p:cNvSpPr/>
          <p:nvPr/>
        </p:nvSpPr>
        <p:spPr>
          <a:xfrm>
            <a:off x="6364224" y="444398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5" name="Text 63"/>
          <p:cNvSpPr txBox="1"/>
          <p:nvPr/>
        </p:nvSpPr>
        <p:spPr>
          <a:xfrm>
            <a:off x="6364224" y="4443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66" name="Text 64"/>
          <p:cNvSpPr txBox="1"/>
          <p:nvPr/>
        </p:nvSpPr>
        <p:spPr>
          <a:xfrm>
            <a:off x="6803136" y="4270248"/>
            <a:ext cx="449244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GDB DIAGNOSTICS</a:t>
            </a:r>
            <a:endParaRPr lang="en-US" sz="1200" dirty="0"/>
          </a:p>
        </p:txBody>
      </p:sp>
      <p:sp>
        <p:nvSpPr>
          <p:cNvPr id="67" name="Text 65"/>
          <p:cNvSpPr txBox="1"/>
          <p:nvPr/>
        </p:nvSpPr>
        <p:spPr>
          <a:xfrm>
            <a:off x="6803136" y="4526280"/>
            <a:ext cx="44924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2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Breakpoints inside advanceToNextMatch() confirm recursive pointer unwrapping never faults on decorated leaves.</a:t>
            </a:r>
            <a:endParaRPr lang="en-US" sz="1050" dirty="0"/>
          </a:p>
        </p:txBody>
      </p:sp>
      <p:sp>
        <p:nvSpPr>
          <p:cNvPr id="70" name="Text 33">
            <a:extLst>
              <a:ext uri="{FF2B5EF4-FFF2-40B4-BE49-F238E27FC236}">
                <a16:creationId xmlns:a16="http://schemas.microsoft.com/office/drawing/2014/main" id="{EDFADDE7-5541-8243-B352-D6BDF763BF1E}"/>
              </a:ext>
            </a:extLst>
          </p:cNvPr>
          <p:cNvSpPr txBox="1"/>
          <p:nvPr/>
        </p:nvSpPr>
        <p:spPr>
          <a:xfrm>
            <a:off x="1817162" y="5632704"/>
            <a:ext cx="1080180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mbria" pitchFamily="34" charset="0"/>
                <a:ea typeface="Cambria" pitchFamily="34" charset="-122"/>
              </a:rPr>
              <a:t>Interactive Main Demo &amp; Activity Diagram</a:t>
            </a:r>
            <a:endParaRPr lang="en-US" sz="3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edium Heading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644</Words>
  <Application>Microsoft Office PowerPoint</Application>
  <PresentationFormat>Widescreen</PresentationFormat>
  <Paragraphs>105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nokhaya princess Foloti</cp:lastModifiedBy>
  <cp:revision>4</cp:revision>
  <dcterms:created xsi:type="dcterms:W3CDTF">2026-09-07T18:21:00Z</dcterms:created>
  <dcterms:modified xsi:type="dcterms:W3CDTF">2026-09-07T20:44:06Z</dcterms:modified>
</cp:coreProperties>
</file>